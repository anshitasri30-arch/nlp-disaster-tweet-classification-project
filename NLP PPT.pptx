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3"/>
  </p:notesMasterIdLst>
  <p:sldIdLst>
    <p:sldId id="280" r:id="rId2"/>
    <p:sldId id="271" r:id="rId3"/>
    <p:sldId id="28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79765" autoAdjust="0"/>
  </p:normalViewPr>
  <p:slideViewPr>
    <p:cSldViewPr snapToGrid="0">
      <p:cViewPr varScale="1">
        <p:scale>
          <a:sx n="39" d="100"/>
          <a:sy n="39" d="100"/>
        </p:scale>
        <p:origin x="125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D953E-5057-49E0-BAB6-D45499AB7C73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7B039-A5C8-422F-8FE5-E50B9B645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0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94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7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46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28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8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09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1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1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5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58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62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94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2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20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37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80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E43BA65-44C5-4605-BD9F-3B2E112D64F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A688BFB-B5D6-4DCB-A5C3-4BD3E0AB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568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55A352-7484-DFD3-FCFE-61AEA708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82" y="242596"/>
            <a:ext cx="10244235" cy="641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8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82B317-6395-8284-3434-266C6E2A258C}"/>
              </a:ext>
            </a:extLst>
          </p:cNvPr>
          <p:cNvSpPr txBox="1"/>
          <p:nvPr/>
        </p:nvSpPr>
        <p:spPr>
          <a:xfrm>
            <a:off x="951721" y="1007707"/>
            <a:ext cx="10842171" cy="526297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Introduction &amp; Problem Statement • Real-Time Crisis Mapping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:</a:t>
            </a:r>
          </a:p>
          <a:p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endParaRPr lang="en-US" sz="2800" b="1" dirty="0"/>
          </a:p>
          <a:p>
            <a:r>
              <a:rPr lang="en-US" sz="2800" b="1" dirty="0"/>
              <a:t> Social media allows critical operational information to travel fast during emergencies. • Linguistic Ambiguity: Disaster-related terms frequently occur in figurative descriptions, metaphors, and casual banter. • Objective Challenge: To build a robust baseline classifier capable of separating real disaster reporting from contextually misleading statements. • Operational Scope: Serving as an automated alert priority filter while acknowledging that validation requires authoritative supervision.</a:t>
            </a:r>
          </a:p>
        </p:txBody>
      </p:sp>
    </p:spTree>
    <p:extLst>
      <p:ext uri="{BB962C8B-B14F-4D97-AF65-F5344CB8AC3E}">
        <p14:creationId xmlns:p14="http://schemas.microsoft.com/office/powerpoint/2010/main" val="775184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CFF36-1E0D-C8CE-7D91-3DDA8FDFB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51" y="0"/>
            <a:ext cx="10448698" cy="696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4A1C4-CB25-10A2-3843-85473809B353}"/>
              </a:ext>
            </a:extLst>
          </p:cNvPr>
          <p:cNvSpPr txBox="1"/>
          <p:nvPr/>
        </p:nvSpPr>
        <p:spPr>
          <a:xfrm>
            <a:off x="496957" y="1570382"/>
            <a:ext cx="11171582" cy="415498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Project Objectives &amp; Core Technologies Core Workflow Objectives: </a:t>
            </a:r>
          </a:p>
          <a:p>
            <a:endParaRPr lang="en-US" sz="2400" b="1" dirty="0"/>
          </a:p>
          <a:p>
            <a:endParaRPr lang="en-US" sz="2400" dirty="0"/>
          </a:p>
          <a:p>
            <a:r>
              <a:rPr lang="en-US" sz="2400" dirty="0"/>
              <a:t>• Perform systematic data cleaning, missing value checks, and duplicate mitigation. </a:t>
            </a:r>
          </a:p>
          <a:p>
            <a:r>
              <a:rPr lang="en-US" sz="2400" dirty="0"/>
              <a:t>• Structural analysis of class balance configurations via localized data splits.</a:t>
            </a:r>
          </a:p>
          <a:p>
            <a:r>
              <a:rPr lang="en-US" sz="2400" dirty="0"/>
              <a:t> • Model evaluations using standard performance profiles (Accuracy, Recall, Precision, F1). </a:t>
            </a:r>
          </a:p>
          <a:p>
            <a:r>
              <a:rPr lang="en-US" sz="2400" dirty="0"/>
              <a:t>• Encapsulate pipelines for deployment within interactive, localized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20906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E23194-C9F9-D1D8-3ABE-61CEE540F30E}"/>
              </a:ext>
            </a:extLst>
          </p:cNvPr>
          <p:cNvSpPr txBox="1"/>
          <p:nvPr/>
        </p:nvSpPr>
        <p:spPr>
          <a:xfrm>
            <a:off x="1063690" y="1643896"/>
            <a:ext cx="8112968" cy="357020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1" u="sng" dirty="0"/>
              <a:t>Technical Framework Architecture:</a:t>
            </a:r>
          </a:p>
          <a:p>
            <a:endParaRPr lang="en-US" sz="3200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sz="2400" dirty="0"/>
              <a:t>Component Group Tools &amp; Libraries Implemented Data &amp; Engineering Python, Pandas, </a:t>
            </a:r>
            <a:r>
              <a:rPr lang="en-US" sz="2400" dirty="0" err="1"/>
              <a:t>Joblib</a:t>
            </a:r>
            <a:r>
              <a:rPr lang="en-US" sz="2400" dirty="0"/>
              <a:t> Features &amp; Modeling scikit-learn (TF-IDF Vectorization, Logistic Regression, Random Forest) Analysis &amp; Visuals Matplotlib, Seaborn Interface Deployment Flask Microframework, HTML, CSS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635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8DFD65-2B61-F0C1-96AD-E6EF34236891}"/>
              </a:ext>
            </a:extLst>
          </p:cNvPr>
          <p:cNvSpPr txBox="1"/>
          <p:nvPr/>
        </p:nvSpPr>
        <p:spPr>
          <a:xfrm>
            <a:off x="989045" y="989046"/>
            <a:ext cx="8187613" cy="526297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Data Engineering &amp; Preprocessing Pipeline </a:t>
            </a:r>
          </a:p>
          <a:p>
            <a:endParaRPr lang="en-US" sz="2000" dirty="0"/>
          </a:p>
          <a:p>
            <a:r>
              <a:rPr lang="en-US" sz="2400" dirty="0"/>
              <a:t>• Data Cleaning Filters:   Conversions to clean lower-case structures, deletion of URLs, text patterns, user mentions (@), and collapsing whitespace blocks. </a:t>
            </a:r>
          </a:p>
          <a:p>
            <a:r>
              <a:rPr lang="en-US" sz="2400" dirty="0"/>
              <a:t>• Target Encoding: Uniform indexing transforming categorical status into integer keys (0 for Non-Disaster and 1 for Real Disaster). </a:t>
            </a:r>
          </a:p>
          <a:p>
            <a:r>
              <a:rPr lang="en-US" sz="2400" dirty="0"/>
              <a:t>• Validation Architecture: Partitioned utilizing a Stratified 80:20 train-test split to preserve operational class distribution parameters across evaluations. </a:t>
            </a:r>
          </a:p>
          <a:p>
            <a:r>
              <a:rPr lang="en-US" sz="2400" dirty="0"/>
              <a:t>• Feature Transformation: Numeric text transformations leveraging a TF-IDF Vectorization stack tracking unigram and bigram structures.</a:t>
            </a:r>
          </a:p>
        </p:txBody>
      </p:sp>
    </p:spTree>
    <p:extLst>
      <p:ext uri="{BB962C8B-B14F-4D97-AF65-F5344CB8AC3E}">
        <p14:creationId xmlns:p14="http://schemas.microsoft.com/office/powerpoint/2010/main" val="104873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5A31A6-51D4-A84E-06D4-2F90B3860C3A}"/>
              </a:ext>
            </a:extLst>
          </p:cNvPr>
          <p:cNvSpPr txBox="1"/>
          <p:nvPr/>
        </p:nvSpPr>
        <p:spPr>
          <a:xfrm>
            <a:off x="373224" y="705177"/>
            <a:ext cx="10412964" cy="58785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Selection &amp; Evaluation Strategy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• Pipeline Candidates: Simultaneous execution profiles configuring linear models (Logistic Regression) against tree ensembles (Random Forest). </a:t>
            </a:r>
          </a:p>
          <a:p>
            <a:r>
              <a:rPr lang="en-US" sz="2800" dirty="0"/>
              <a:t>• Validation Routine: Application of Stratified Cross-Validation on training subsets tracking mean F1 scores.</a:t>
            </a:r>
          </a:p>
          <a:p>
            <a:r>
              <a:rPr lang="en-US" sz="2800" dirty="0"/>
              <a:t> • Selection Rule: Performance selection is controlled by the pipeline demonstrating optimal F1 profiles on validation sets. </a:t>
            </a:r>
          </a:p>
          <a:p>
            <a:r>
              <a:rPr lang="en-US" sz="2800" dirty="0"/>
              <a:t>• Target Artifact Profiles: Generation of Confusion Matrices, Precision-Recall Curves, and ROC/AUC scores to analyze false-alarm boundaries.</a:t>
            </a:r>
          </a:p>
        </p:txBody>
      </p:sp>
    </p:spTree>
    <p:extLst>
      <p:ext uri="{BB962C8B-B14F-4D97-AF65-F5344CB8AC3E}">
        <p14:creationId xmlns:p14="http://schemas.microsoft.com/office/powerpoint/2010/main" val="1074905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BF388-5E7F-9E40-5D16-89D68E1687D1}"/>
              </a:ext>
            </a:extLst>
          </p:cNvPr>
          <p:cNvSpPr txBox="1"/>
          <p:nvPr/>
        </p:nvSpPr>
        <p:spPr>
          <a:xfrm>
            <a:off x="1324946" y="997565"/>
            <a:ext cx="8523515" cy="486287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Interactive Web Interface Deployment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sz="2400" dirty="0"/>
              <a:t>• Interface Architecture: Lightweight integration leveraging a localized Flask microframework container. </a:t>
            </a:r>
          </a:p>
          <a:p>
            <a:r>
              <a:rPr lang="en-US" sz="2400" dirty="0"/>
              <a:t>• Dynamic Pipeline Evaluation: Serialized model and vectorizer instances are loaded using </a:t>
            </a:r>
            <a:r>
              <a:rPr lang="en-US" sz="2400" dirty="0" err="1"/>
              <a:t>Joblib</a:t>
            </a:r>
            <a:r>
              <a:rPr lang="en-US" sz="2400" dirty="0"/>
              <a:t> utility wrappers. </a:t>
            </a:r>
          </a:p>
          <a:p>
            <a:r>
              <a:rPr lang="en-US" sz="2400" dirty="0"/>
              <a:t>• Execution Workflow: Users input live string parameters into a web webform, forcing runtime parsing through the preprocessing pipeline. </a:t>
            </a:r>
          </a:p>
          <a:p>
            <a:r>
              <a:rPr lang="en-US" sz="2400" dirty="0"/>
              <a:t>• Operational Results: Displays classification class along with model probability confidence metrics where supported.</a:t>
            </a:r>
          </a:p>
        </p:txBody>
      </p:sp>
    </p:spTree>
    <p:extLst>
      <p:ext uri="{BB962C8B-B14F-4D97-AF65-F5344CB8AC3E}">
        <p14:creationId xmlns:p14="http://schemas.microsoft.com/office/powerpoint/2010/main" val="2872826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494E2B-3B4C-75AA-A6DF-5EE57365D00C}"/>
              </a:ext>
            </a:extLst>
          </p:cNvPr>
          <p:cNvSpPr txBox="1"/>
          <p:nvPr/>
        </p:nvSpPr>
        <p:spPr>
          <a:xfrm>
            <a:off x="1119674" y="905232"/>
            <a:ext cx="8262257" cy="50475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Constraints &amp; Future Scope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sz="2000" dirty="0"/>
              <a:t>• Contextual Vulnerabilities: Susceptibility to linguistic shifts such as dense slang, regional spelling variations, and complex sarcastic phrasing.</a:t>
            </a:r>
          </a:p>
          <a:p>
            <a:endParaRPr lang="en-US" sz="2000" dirty="0"/>
          </a:p>
          <a:p>
            <a:r>
              <a:rPr lang="en-US" sz="2000" dirty="0"/>
              <a:t> • Operational Limitations: Standalone model execution is isolated from direct real-time platform APIs or stream ingestion engines. </a:t>
            </a:r>
          </a:p>
          <a:p>
            <a:endParaRPr lang="en-US" sz="2000" dirty="0"/>
          </a:p>
          <a:p>
            <a:r>
              <a:rPr lang="en-US" sz="2000" dirty="0"/>
              <a:t>• Advanced Extensions: Migration from basic lexical counts toward rich semantic architectures including pre-trained Word Embeddings or Transformers. </a:t>
            </a:r>
          </a:p>
          <a:p>
            <a:endParaRPr lang="en-US" sz="2000" dirty="0"/>
          </a:p>
          <a:p>
            <a:r>
              <a:rPr lang="en-US" sz="2000" dirty="0"/>
              <a:t>• Production Scaling: Relocating from micro-servers into secure enterprise cloud APIs managing comprehensive drifting monitors.</a:t>
            </a:r>
          </a:p>
        </p:txBody>
      </p:sp>
    </p:spTree>
    <p:extLst>
      <p:ext uri="{BB962C8B-B14F-4D97-AF65-F5344CB8AC3E}">
        <p14:creationId xmlns:p14="http://schemas.microsoft.com/office/powerpoint/2010/main" val="281319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15104F-FC44-24E6-8C9E-337735F2B689}"/>
              </a:ext>
            </a:extLst>
          </p:cNvPr>
          <p:cNvSpPr txBox="1"/>
          <p:nvPr/>
        </p:nvSpPr>
        <p:spPr>
          <a:xfrm>
            <a:off x="1306285" y="1316883"/>
            <a:ext cx="8635482" cy="422423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200" b="1" u="sng" dirty="0">
                <a:solidFill>
                  <a:schemeClr val="tx1"/>
                </a:solidFill>
                <a:effectLst/>
                <a:latin typeface="+mn-lt"/>
              </a:rPr>
              <a:t>Conclusion</a:t>
            </a:r>
          </a:p>
          <a:p>
            <a:pPr algn="ctr">
              <a:lnSpc>
                <a:spcPct val="100000"/>
              </a:lnSpc>
              <a:buNone/>
            </a:pPr>
            <a:endParaRPr lang="en-US" sz="3200" b="1" dirty="0"/>
          </a:p>
          <a:p>
            <a:pPr algn="ctr">
              <a:lnSpc>
                <a:spcPct val="100000"/>
              </a:lnSpc>
              <a:buNone/>
            </a:pPr>
            <a:endParaRPr lang="en-US" sz="3200" b="1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solidFill>
                  <a:schemeClr val="tx1"/>
                </a:solidFill>
                <a:effectLst/>
                <a:latin typeface="+mn-lt"/>
              </a:rPr>
              <a:t>This project provides an end-to-end baseline for disaster-tweet text classification, from data preparation and model comparison to evaluation artifacts and a web interface. Its actual performance can only be concluded after training and testing on the correct dataset.</a:t>
            </a:r>
          </a:p>
          <a:p>
            <a:pPr>
              <a:lnSpc>
                <a:spcPct val="100000"/>
              </a:lnSpc>
              <a:buNone/>
            </a:pP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88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n">
            <a:extLst>
              <a:ext uri="{FF2B5EF4-FFF2-40B4-BE49-F238E27FC236}">
                <a16:creationId xmlns:a16="http://schemas.microsoft.com/office/drawing/2014/main" id="{C32E8397-537B-0044-7117-6EDC5CEDD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67" y="662338"/>
            <a:ext cx="8940800" cy="549328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996753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8462</TotalTime>
  <Words>567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Consolas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Anshita Srivastava</cp:lastModifiedBy>
  <cp:revision>4</cp:revision>
  <dcterms:created xsi:type="dcterms:W3CDTF">2026-08-05T11:00:04Z</dcterms:created>
  <dcterms:modified xsi:type="dcterms:W3CDTF">2026-10-16T21:38:07Z</dcterms:modified>
</cp:coreProperties>
</file>